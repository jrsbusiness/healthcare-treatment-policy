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sldIdLst>
    <p:sldId id="256" r:id="rId3"/>
    <p:sldId id="274" r:id="rId4"/>
    <p:sldId id="261" r:id="rId5"/>
    <p:sldId id="260" r:id="rId6"/>
    <p:sldId id="262" r:id="rId7"/>
    <p:sldId id="263" r:id="rId8"/>
    <p:sldId id="275" r:id="rId9"/>
    <p:sldId id="264" r:id="rId10"/>
    <p:sldId id="265" r:id="rId11"/>
    <p:sldId id="276" r:id="rId12"/>
    <p:sldId id="277" r:id="rId13"/>
    <p:sldId id="278" r:id="rId14"/>
    <p:sldId id="279" r:id="rId15"/>
    <p:sldId id="267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588"/>
    <p:restoredTop sz="94617"/>
  </p:normalViewPr>
  <p:slideViewPr>
    <p:cSldViewPr snapToGrid="0">
      <p:cViewPr varScale="1">
        <p:scale>
          <a:sx n="127" d="100"/>
          <a:sy n="127" d="100"/>
        </p:scale>
        <p:origin x="1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D9F2A-718A-311F-00E6-0CF854187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941BD8-7378-26AA-3680-1A369BF0F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E861F-4AE7-98BC-587B-948E94F6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449-F4C1-2444-BD7B-AA9D5042495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44237-027D-4B74-06B4-CF92067C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CB843-EF85-6C09-0089-6B65D448A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8BA3-1860-184D-B1C6-0C7E578E9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965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A610B-F1C8-77ED-0756-640CFC76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F5DF3-1267-8CD9-2C7D-3EF21B83C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35EC4-3FCA-7CDB-2362-D339CECD3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449-F4C1-2444-BD7B-AA9D5042495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FCD6B-DC7E-8695-C0A0-290FC90F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42016-3EA0-3BF5-1945-6C72331B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8BA3-1860-184D-B1C6-0C7E578E9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83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1768-6A4F-E936-BEAB-2BF757280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A69C-C407-9CC2-E5E0-89C9F641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40375-33BB-32CD-F146-A5FC22670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449-F4C1-2444-BD7B-AA9D5042495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1289-1696-BA91-12C5-8F3860006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9F1E5-9817-5DF9-962D-B5E43A07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8BA3-1860-184D-B1C6-0C7E578E9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85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E22E-6341-34EF-7CB3-2ED87E80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77363-6285-202B-92FA-3EB2E5A96C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E82C8-6B80-83FC-C071-841072052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921A5-05E3-9B0E-8ADE-239BC321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449-F4C1-2444-BD7B-AA9D5042495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C64BB-697F-02CA-0666-DFF082AD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AD096-66FC-41FF-3AC9-8B34083B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8BA3-1860-184D-B1C6-0C7E578E9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02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B9AC-8CE4-B0C0-6A59-491441CF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5F7DF-A884-4093-C95D-0A0FF6B6B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59060-C91B-010D-670D-64BFAB191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6C137-6668-EE61-A502-971ED0224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6F82EE-EAB9-DBAE-E34E-575CBE2899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7193E7-FF3F-D7BD-042C-4E4BEF36B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449-F4C1-2444-BD7B-AA9D5042495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BAD7DD-7EEB-FBC9-841F-60B968923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10302-3E88-11A1-03EB-FFBA323D5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8BA3-1860-184D-B1C6-0C7E578E9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75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3797E-8368-5B5B-84AF-68327A4BA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C154F9-0849-5CAA-E11F-268F3739C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449-F4C1-2444-BD7B-AA9D5042495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43D657-28FE-C3A9-2D63-E807538D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9E9FC-4278-0A27-1077-B81BE1905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8BA3-1860-184D-B1C6-0C7E578E9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71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C3C1A5-79F9-8304-8F3B-681BD4AEF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449-F4C1-2444-BD7B-AA9D5042495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63B3A0-0847-4AFC-B9D7-966562773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0ED72-1345-7DBD-9ACB-B43941AFC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8BA3-1860-184D-B1C6-0C7E578E9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171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F045-3047-08B8-3C7E-81B17DA64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054C2-A5B7-5944-836E-7A8D6749B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AAE36-C940-13BC-3D65-9BFBC87CF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410BE-2E95-A675-08CF-E1610562D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449-F4C1-2444-BD7B-AA9D5042495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8C4F6-D104-58DB-B340-7B1553E58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285AF-2938-5CBB-6354-FE7A01C2D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8BA3-1860-184D-B1C6-0C7E578E9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972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33626-D070-F3B7-2860-6B8796DA6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FF29AD-961C-6651-0641-5F412FCB9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92891-A3BB-553B-4AE3-D2B87A3A9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23FD7-7407-767F-3712-0FDDD7933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449-F4C1-2444-BD7B-AA9D5042495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A0A05-16E4-0B03-51A6-D1BE9A47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6FF76-009D-F2AA-41CB-F3436F63F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8BA3-1860-184D-B1C6-0C7E578E9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26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8A907-F1F0-B00A-7F6D-7F116C4F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788D9-569D-A991-99C1-8AE2D8629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90096-A0FE-96F0-0895-013F8F9D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449-F4C1-2444-BD7B-AA9D5042495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081C7-E2AF-6206-F291-471A3519C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5510B-5304-EF5D-AD5C-3C6F23A9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8BA3-1860-184D-B1C6-0C7E578E9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686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46921A-EE1C-E253-71B6-AF1D863241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2CBE2-97A8-B373-934A-6E56AFC59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EBB3B-C1A7-931C-28BF-AF1118194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449-F4C1-2444-BD7B-AA9D5042495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2D4DC-60D1-D9B4-7BBF-82A88E3E5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032CA-CD4B-7EDB-333F-EE0A0080D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F8BA3-1860-184D-B1C6-0C7E578E9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8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700121-5083-2942-0FA8-7C079C019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A5838-4ED8-FB95-3787-1D56BF094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74BB7-003C-02FE-816C-F3E074CFA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0F449-F4C1-2444-BD7B-AA9D5042495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2F48A-9B6D-E2E5-62EE-FB17AFF26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21D20-C4FB-D113-F324-47DE80880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9F8BA3-1860-184D-B1C6-0C7E578E9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82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physionet.org/content/mimiciii/1.4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F7D46-9941-F4FF-6BD4-6B75D362F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463" y="887569"/>
            <a:ext cx="8637073" cy="2541431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Healthcare Treatment Policy Learning Using Reinforcement Learning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CFF6B-012E-FE12-6AA8-2F8628270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563861"/>
            <a:ext cx="12192000" cy="306553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Harshit Chhabra (23csu118)</a:t>
            </a:r>
          </a:p>
          <a:p>
            <a:pPr algn="ctr"/>
            <a:r>
              <a:rPr lang="en-US" dirty="0"/>
              <a:t>Harsh Yadav (23su115)</a:t>
            </a:r>
          </a:p>
          <a:p>
            <a:pPr algn="ctr"/>
            <a:r>
              <a:rPr lang="en-US" dirty="0"/>
              <a:t>Himanshu </a:t>
            </a:r>
            <a:r>
              <a:rPr lang="en-US" dirty="0" err="1"/>
              <a:t>rao</a:t>
            </a:r>
            <a:r>
              <a:rPr lang="en-US" dirty="0"/>
              <a:t> (23csu125)</a:t>
            </a:r>
          </a:p>
          <a:p>
            <a:pPr algn="ctr"/>
            <a:r>
              <a:rPr lang="en-US" dirty="0"/>
              <a:t>Jatin Yadav (23csu139)</a:t>
            </a:r>
          </a:p>
        </p:txBody>
      </p:sp>
    </p:spTree>
    <p:extLst>
      <p:ext uri="{BB962C8B-B14F-4D97-AF65-F5344CB8AC3E}">
        <p14:creationId xmlns:p14="http://schemas.microsoft.com/office/powerpoint/2010/main" val="3941947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0ED2E-4CAC-9D99-F89D-E349E2D7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>
            <a:extLst>
              <a:ext uri="{FF2B5EF4-FFF2-40B4-BE49-F238E27FC236}">
                <a16:creationId xmlns:a16="http://schemas.microsoft.com/office/drawing/2014/main" id="{5671AB78-1EC2-812F-B266-F0DB34D96C9A}"/>
              </a:ext>
            </a:extLst>
          </p:cNvPr>
          <p:cNvSpPr/>
          <p:nvPr/>
        </p:nvSpPr>
        <p:spPr>
          <a:xfrm flipV="1">
            <a:off x="685800" y="727789"/>
            <a:ext cx="10105697" cy="9382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0B1D1CF-4983-BC23-70F9-B99C9D8631ED}"/>
              </a:ext>
            </a:extLst>
          </p:cNvPr>
          <p:cNvSpPr txBox="1"/>
          <p:nvPr/>
        </p:nvSpPr>
        <p:spPr>
          <a:xfrm>
            <a:off x="781401" y="1129141"/>
            <a:ext cx="10902599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US" sz="4800" dirty="0"/>
              <a:t>Problem Statement</a:t>
            </a:r>
            <a:endParaRPr lang="en-US" sz="4667" b="1" dirty="0">
              <a:solidFill>
                <a:schemeClr val="accent2">
                  <a:lumMod val="75000"/>
                </a:schemeClr>
              </a:solidFill>
              <a:latin typeface="Radley" panose="020B0604020202020204" charset="0"/>
              <a:ea typeface="Radley"/>
              <a:cs typeface="Radley"/>
              <a:sym typeface="Radle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9F141A-0677-8337-62AA-DB4C6485F25F}"/>
              </a:ext>
            </a:extLst>
          </p:cNvPr>
          <p:cNvSpPr txBox="1"/>
          <p:nvPr/>
        </p:nvSpPr>
        <p:spPr>
          <a:xfrm>
            <a:off x="406400" y="2209800"/>
            <a:ext cx="11125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Design and implement a </a:t>
            </a:r>
            <a:r>
              <a:rPr lang="en-IN" sz="2800" b="1" dirty="0"/>
              <a:t>reinforcement learning agent</a:t>
            </a:r>
            <a:r>
              <a:rPr lang="en-IN" sz="2800" dirty="0"/>
              <a:t> that learns </a:t>
            </a:r>
            <a:r>
              <a:rPr lang="en-IN" sz="2800" b="1" dirty="0"/>
              <a:t>optimal treatment strategies</a:t>
            </a:r>
            <a:r>
              <a:rPr lang="en-IN" sz="2800" dirty="0"/>
              <a:t> for patients suffering from </a:t>
            </a:r>
            <a:r>
              <a:rPr lang="en-IN" sz="2800" b="1" dirty="0"/>
              <a:t>chronic or critical illnesses</a:t>
            </a:r>
            <a:r>
              <a:rPr lang="en-IN" sz="2800" dirty="0"/>
              <a:t> such as </a:t>
            </a:r>
            <a:r>
              <a:rPr lang="en-IN" sz="2800" b="1" dirty="0"/>
              <a:t>diabetes, sepsis, or cancer</a:t>
            </a:r>
            <a:r>
              <a:rPr lang="en-IN" sz="2800" dirty="0"/>
              <a:t>.</a:t>
            </a:r>
            <a:br>
              <a:rPr lang="en-IN" sz="2800" dirty="0"/>
            </a:br>
            <a:r>
              <a:rPr lang="en-IN" sz="2800" dirty="0"/>
              <a:t>The goal is to </a:t>
            </a:r>
            <a:r>
              <a:rPr lang="en-IN" sz="2800" b="1" dirty="0"/>
              <a:t>maximize long-term health outcomes</a:t>
            </a:r>
            <a:r>
              <a:rPr lang="en-IN" sz="2800" dirty="0"/>
              <a:t> while </a:t>
            </a:r>
            <a:r>
              <a:rPr lang="en-IN" sz="2800" b="1" dirty="0"/>
              <a:t>minimizing treatment side effects</a:t>
            </a:r>
            <a:r>
              <a:rPr lang="en-IN" sz="2800" dirty="0"/>
              <a:t>, </a:t>
            </a:r>
            <a:r>
              <a:rPr lang="en-IN" sz="2800" b="1" dirty="0"/>
              <a:t>hospital stay duration</a:t>
            </a:r>
            <a:r>
              <a:rPr lang="en-IN" sz="2800" dirty="0"/>
              <a:t>, and </a:t>
            </a:r>
            <a:r>
              <a:rPr lang="en-IN" sz="2800" b="1" dirty="0"/>
              <a:t>overall healthcare costs.</a:t>
            </a:r>
            <a:endParaRPr lang="en-IN" sz="2667" dirty="0"/>
          </a:p>
        </p:txBody>
      </p:sp>
    </p:spTree>
    <p:extLst>
      <p:ext uri="{BB962C8B-B14F-4D97-AF65-F5344CB8AC3E}">
        <p14:creationId xmlns:p14="http://schemas.microsoft.com/office/powerpoint/2010/main" val="1795132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CB22-CBAE-013A-9380-1892428A9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>
            <a:extLst>
              <a:ext uri="{FF2B5EF4-FFF2-40B4-BE49-F238E27FC236}">
                <a16:creationId xmlns:a16="http://schemas.microsoft.com/office/drawing/2014/main" id="{A57E9C8F-0641-7A3E-DC9E-F881E3DD2550}"/>
              </a:ext>
            </a:extLst>
          </p:cNvPr>
          <p:cNvSpPr/>
          <p:nvPr/>
        </p:nvSpPr>
        <p:spPr>
          <a:xfrm flipV="1">
            <a:off x="685800" y="727789"/>
            <a:ext cx="10105697" cy="9382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D21F2C8-D0BA-17F2-4C69-EBFC5A4F8424}"/>
              </a:ext>
            </a:extLst>
          </p:cNvPr>
          <p:cNvSpPr txBox="1"/>
          <p:nvPr/>
        </p:nvSpPr>
        <p:spPr>
          <a:xfrm>
            <a:off x="781401" y="1060853"/>
            <a:ext cx="10902599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IN" sz="4800" dirty="0"/>
              <a:t>Introduction &amp; Project Goals</a:t>
            </a:r>
            <a:endParaRPr lang="en-US" sz="4667" b="1" dirty="0">
              <a:solidFill>
                <a:schemeClr val="accent2">
                  <a:lumMod val="75000"/>
                </a:schemeClr>
              </a:solidFill>
              <a:latin typeface="Radley" panose="020B0604020202020204" charset="0"/>
              <a:ea typeface="Radley"/>
              <a:cs typeface="Radley"/>
              <a:sym typeface="Radle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52F0DD-ECD3-FD9E-E264-4AAD096801F3}"/>
              </a:ext>
            </a:extLst>
          </p:cNvPr>
          <p:cNvSpPr txBox="1"/>
          <p:nvPr/>
        </p:nvSpPr>
        <p:spPr>
          <a:xfrm>
            <a:off x="685800" y="2051384"/>
            <a:ext cx="27847047" cy="438075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Purpose: Build an AI-driven healthcare dashboard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Integrates ML, RL, chatbot, analytics &amp; simulation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Simple visualizations + real-time monitoring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Demonstrates AI for clinical decision-support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Predict patient risk using ML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Provide alerts for abnormal vitals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Enable PDF reporting &amp; patient lookup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Add intelligent doctor chatbot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Deploy as a </a:t>
            </a:r>
            <a:r>
              <a:rPr lang="en-IN" sz="2800" dirty="0" err="1"/>
              <a:t>Streamlit</a:t>
            </a:r>
            <a:r>
              <a:rPr lang="en-IN" sz="2800" dirty="0"/>
              <a:t> web app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667" dirty="0"/>
          </a:p>
        </p:txBody>
      </p:sp>
    </p:spTree>
    <p:extLst>
      <p:ext uri="{BB962C8B-B14F-4D97-AF65-F5344CB8AC3E}">
        <p14:creationId xmlns:p14="http://schemas.microsoft.com/office/powerpoint/2010/main" val="2796760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 flipV="1">
            <a:off x="685800" y="727789"/>
            <a:ext cx="10105697" cy="9382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Box 20"/>
          <p:cNvSpPr txBox="1"/>
          <p:nvPr/>
        </p:nvSpPr>
        <p:spPr>
          <a:xfrm>
            <a:off x="781401" y="1129141"/>
            <a:ext cx="10902599" cy="1333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IN" sz="4800" dirty="0"/>
              <a:t>Input</a:t>
            </a:r>
            <a:endParaRPr lang="en-US" sz="4800" dirty="0"/>
          </a:p>
          <a:p>
            <a:pPr algn="ctr">
              <a:lnSpc>
                <a:spcPts val="5227"/>
              </a:lnSpc>
              <a:spcBef>
                <a:spcPct val="0"/>
              </a:spcBef>
            </a:pPr>
            <a:endParaRPr lang="en-US" sz="4667" b="1" dirty="0">
              <a:solidFill>
                <a:schemeClr val="accent2">
                  <a:lumMod val="75000"/>
                </a:schemeClr>
              </a:solidFill>
              <a:latin typeface="Radley" panose="020B0604020202020204" charset="0"/>
              <a:ea typeface="Radley"/>
              <a:cs typeface="Radley"/>
              <a:sym typeface="Radle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E7E55F-7AAC-AD4F-644C-919FC7221D77}"/>
              </a:ext>
            </a:extLst>
          </p:cNvPr>
          <p:cNvSpPr txBox="1"/>
          <p:nvPr/>
        </p:nvSpPr>
        <p:spPr>
          <a:xfrm>
            <a:off x="406400" y="2209800"/>
            <a:ext cx="11785600" cy="3395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input consists of </a:t>
            </a:r>
            <a:r>
              <a:rPr lang="en-IN" sz="2000" b="1" dirty="0"/>
              <a:t>patient health data</a:t>
            </a:r>
            <a:r>
              <a:rPr lang="en-IN" sz="2000" dirty="0"/>
              <a:t> collected over time from electronic health records (EHR).</a:t>
            </a:r>
            <a:br>
              <a:rPr lang="en-IN" sz="2000" dirty="0"/>
            </a:br>
            <a:r>
              <a:rPr lang="en-IN" sz="2000" dirty="0"/>
              <a:t>Each record forms a </a:t>
            </a:r>
            <a:r>
              <a:rPr lang="en-IN" sz="2000" b="1" dirty="0"/>
              <a:t>state vector</a:t>
            </a:r>
            <a:r>
              <a:rPr lang="en-IN" sz="2000" dirty="0"/>
              <a:t> containing clinical variables such as: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dirty="0"/>
              <a:t>Vital signs: heart rate, blood pressure, oxygen level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dirty="0"/>
              <a:t>Lab results: WBC count, glucose, creatinine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dirty="0"/>
              <a:t>Treatment history: insulin dose, antibiotics, vasopressor usage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dirty="0"/>
              <a:t>Outcome indicators: recovery, ICU stay</a:t>
            </a:r>
          </a:p>
          <a:p>
            <a:r>
              <a:rPr lang="en-IN" sz="2000" dirty="0"/>
              <a:t>This input helps the RL agent to understand the </a:t>
            </a:r>
            <a:r>
              <a:rPr lang="en-IN" sz="2000" b="1" dirty="0"/>
              <a:t>current health condition</a:t>
            </a:r>
            <a:r>
              <a:rPr lang="en-IN" sz="2000" dirty="0"/>
              <a:t> and make decisions (actions) like dosage adjustment or therapy change.</a:t>
            </a:r>
            <a:br>
              <a:rPr lang="en-IN" sz="2000" dirty="0"/>
            </a:br>
            <a:r>
              <a:rPr lang="en-IN" sz="2000" dirty="0"/>
              <a:t>Data preprocessing includes normalization, handling missing values, and time-series structuring.</a:t>
            </a:r>
          </a:p>
          <a:p>
            <a:endParaRPr lang="en-IN" sz="26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B3933-43E5-F680-A610-CC9265AB8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>
            <a:extLst>
              <a:ext uri="{FF2B5EF4-FFF2-40B4-BE49-F238E27FC236}">
                <a16:creationId xmlns:a16="http://schemas.microsoft.com/office/drawing/2014/main" id="{5F79C6D2-8AEC-BD31-8370-1D7755DDE9A1}"/>
              </a:ext>
            </a:extLst>
          </p:cNvPr>
          <p:cNvSpPr/>
          <p:nvPr/>
        </p:nvSpPr>
        <p:spPr>
          <a:xfrm flipV="1">
            <a:off x="685800" y="727789"/>
            <a:ext cx="10105697" cy="9382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3D5BD30-4C54-FFAA-8B68-FBCEC3A05C2F}"/>
              </a:ext>
            </a:extLst>
          </p:cNvPr>
          <p:cNvSpPr txBox="1"/>
          <p:nvPr/>
        </p:nvSpPr>
        <p:spPr>
          <a:xfrm>
            <a:off x="781401" y="1129141"/>
            <a:ext cx="10902599" cy="1333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IN" sz="4800" dirty="0"/>
              <a:t>Techniques – RL Algorithms</a:t>
            </a:r>
            <a:endParaRPr lang="en-US" sz="4800" dirty="0"/>
          </a:p>
          <a:p>
            <a:pPr algn="ctr">
              <a:lnSpc>
                <a:spcPts val="5227"/>
              </a:lnSpc>
              <a:spcBef>
                <a:spcPct val="0"/>
              </a:spcBef>
            </a:pPr>
            <a:endParaRPr lang="en-US" sz="4667" b="1" dirty="0">
              <a:solidFill>
                <a:schemeClr val="accent2">
                  <a:lumMod val="75000"/>
                </a:schemeClr>
              </a:solidFill>
              <a:latin typeface="Radley" panose="020B0604020202020204" charset="0"/>
              <a:ea typeface="Radley"/>
              <a:cs typeface="Radley"/>
              <a:sym typeface="Radle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4518D2-8B39-DEC3-B086-99EFDE2B7249}"/>
              </a:ext>
            </a:extLst>
          </p:cNvPr>
          <p:cNvSpPr txBox="1"/>
          <p:nvPr/>
        </p:nvSpPr>
        <p:spPr>
          <a:xfrm>
            <a:off x="406400" y="1795990"/>
            <a:ext cx="11785600" cy="462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800" b="1" dirty="0"/>
              <a:t>(</a:t>
            </a:r>
            <a:r>
              <a:rPr lang="en-IN" sz="2000" b="1" dirty="0"/>
              <a:t>a) Deep Q-Network (DQN)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Learns optimal action-value functions (Q-values) from patient state transitions.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Handles high-dimensional continuous inputs using neural networks.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Advantage: Simple and interpretable in healthcare decision systems.</a:t>
            </a:r>
          </a:p>
          <a:p>
            <a:pPr>
              <a:buNone/>
            </a:pPr>
            <a:r>
              <a:rPr lang="en-IN" sz="2000" b="1" dirty="0"/>
              <a:t>(b) Deep Deterministic Policy Gradient (DDPG)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Used for </a:t>
            </a:r>
            <a:r>
              <a:rPr lang="en-IN" sz="2000" b="1" dirty="0"/>
              <a:t>continuous action spaces</a:t>
            </a:r>
            <a:r>
              <a:rPr lang="en-IN" sz="2000" dirty="0"/>
              <a:t> such as dosage control.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Combines actor–critic architecture for stable policy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Advantage: Balances exploration vs exploitation and adapts personalized treatment intensities.</a:t>
            </a:r>
          </a:p>
          <a:p>
            <a:pPr>
              <a:buNone/>
            </a:pPr>
            <a:r>
              <a:rPr lang="en-IN" sz="2000" b="1" dirty="0"/>
              <a:t>(c) Batch-Constrained Q-Learning (BCQ)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Works on </a:t>
            </a:r>
            <a:r>
              <a:rPr lang="en-IN" sz="2000" b="1" dirty="0"/>
              <a:t>offline datasets</a:t>
            </a:r>
            <a:r>
              <a:rPr lang="en-IN" sz="2000" dirty="0"/>
              <a:t> (no live interaction).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Prevents unsafe or unrealistic actions by learning only from existing medical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Ideal for healthcare where experiments on real patients are not feasible.</a:t>
            </a:r>
          </a:p>
          <a:p>
            <a:pPr>
              <a:buNone/>
            </a:pPr>
            <a:r>
              <a:rPr lang="en-IN" sz="2000" dirty="0"/>
              <a:t>These three collectively ensure both </a:t>
            </a:r>
            <a:r>
              <a:rPr lang="en-IN" sz="2000" b="1" dirty="0"/>
              <a:t>safe offline learning</a:t>
            </a:r>
            <a:r>
              <a:rPr lang="en-IN" sz="2000" dirty="0"/>
              <a:t> and </a:t>
            </a:r>
            <a:r>
              <a:rPr lang="en-IN" sz="2000" b="1" dirty="0"/>
              <a:t>real-world policy optimization</a:t>
            </a:r>
            <a:r>
              <a:rPr lang="en-IN" sz="2000" dirty="0"/>
              <a:t>.</a:t>
            </a:r>
          </a:p>
          <a:p>
            <a:endParaRPr lang="en-IN" sz="2667" dirty="0"/>
          </a:p>
        </p:txBody>
      </p:sp>
    </p:spTree>
    <p:extLst>
      <p:ext uri="{BB962C8B-B14F-4D97-AF65-F5344CB8AC3E}">
        <p14:creationId xmlns:p14="http://schemas.microsoft.com/office/powerpoint/2010/main" val="1493628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2099B-169C-AE02-4A1D-196E595F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>
            <a:extLst>
              <a:ext uri="{FF2B5EF4-FFF2-40B4-BE49-F238E27FC236}">
                <a16:creationId xmlns:a16="http://schemas.microsoft.com/office/drawing/2014/main" id="{86A7BA73-6C3B-98CC-EE42-B7FDA2B2D9AD}"/>
              </a:ext>
            </a:extLst>
          </p:cNvPr>
          <p:cNvSpPr/>
          <p:nvPr/>
        </p:nvSpPr>
        <p:spPr>
          <a:xfrm flipV="1">
            <a:off x="685800" y="727789"/>
            <a:ext cx="10105697" cy="9382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7F2B42C-D1DE-3396-5B1B-7FCA6343FEBB}"/>
              </a:ext>
            </a:extLst>
          </p:cNvPr>
          <p:cNvSpPr txBox="1"/>
          <p:nvPr/>
        </p:nvSpPr>
        <p:spPr>
          <a:xfrm>
            <a:off x="781401" y="1129141"/>
            <a:ext cx="10902599" cy="1333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IN" sz="4800" b="1" dirty="0"/>
              <a:t>Simulation Environment</a:t>
            </a:r>
          </a:p>
          <a:p>
            <a:pPr algn="ctr">
              <a:lnSpc>
                <a:spcPts val="5227"/>
              </a:lnSpc>
              <a:spcBef>
                <a:spcPct val="0"/>
              </a:spcBef>
            </a:pPr>
            <a:endParaRPr lang="en-US" sz="4667" b="1" dirty="0">
              <a:solidFill>
                <a:schemeClr val="accent2">
                  <a:lumMod val="75000"/>
                </a:schemeClr>
              </a:solidFill>
              <a:latin typeface="Radley" panose="020B0604020202020204" charset="0"/>
              <a:ea typeface="Radley"/>
              <a:cs typeface="Radley"/>
              <a:sym typeface="Radle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C2AC93-7E67-85B1-8C7D-BD673FCA944F}"/>
              </a:ext>
            </a:extLst>
          </p:cNvPr>
          <p:cNvSpPr txBox="1"/>
          <p:nvPr/>
        </p:nvSpPr>
        <p:spPr>
          <a:xfrm>
            <a:off x="406400" y="2273510"/>
            <a:ext cx="11785600" cy="3272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Since real-world medical trials are risky, we use a </a:t>
            </a:r>
            <a:r>
              <a:rPr lang="en-IN" sz="2000" b="1" dirty="0"/>
              <a:t>virtual patient simulator</a:t>
            </a:r>
            <a:r>
              <a:rPr lang="en-IN" sz="2000" dirty="0"/>
              <a:t> based on the </a:t>
            </a:r>
            <a:r>
              <a:rPr lang="en-IN" sz="2000" b="1" dirty="0"/>
              <a:t>MIMIC-III dataset</a:t>
            </a:r>
            <a:r>
              <a:rPr lang="en-IN" sz="2000" dirty="0"/>
              <a:t>.</a:t>
            </a:r>
            <a:br>
              <a:rPr lang="en-IN" sz="2000" dirty="0"/>
            </a:br>
            <a:r>
              <a:rPr lang="en-IN" sz="2000" dirty="0"/>
              <a:t>Simulation framework examples: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b="1" dirty="0" err="1"/>
              <a:t>SepsisGym</a:t>
            </a:r>
            <a:r>
              <a:rPr lang="en-IN" sz="2000" dirty="0"/>
              <a:t> (OpenAI Gym-style environment for ICU patients)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b="1" dirty="0"/>
              <a:t>Synthea</a:t>
            </a:r>
            <a:r>
              <a:rPr lang="en-IN" sz="2000" dirty="0"/>
              <a:t> synthetic patient generator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dirty="0"/>
              <a:t>Each episode represents a simulated patient journey (admission → treatment → discharge/death).</a:t>
            </a:r>
          </a:p>
          <a:p>
            <a:r>
              <a:rPr lang="en-IN" sz="2000" dirty="0"/>
              <a:t>The environment models </a:t>
            </a:r>
            <a:r>
              <a:rPr lang="en-IN" sz="2000" b="1" dirty="0"/>
              <a:t>Markov Decision Process (MDP)</a:t>
            </a:r>
            <a:r>
              <a:rPr lang="en-IN" sz="2000" dirty="0"/>
              <a:t> dynamics with: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dirty="0"/>
              <a:t>State: Patient’s health indicators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dirty="0"/>
              <a:t>Action: Treatment decision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dirty="0"/>
              <a:t>Reward: Improvement, stability, or decline in health</a:t>
            </a:r>
          </a:p>
          <a:p>
            <a:endParaRPr lang="en-IN" sz="2667" dirty="0"/>
          </a:p>
        </p:txBody>
      </p:sp>
    </p:spTree>
    <p:extLst>
      <p:ext uri="{BB962C8B-B14F-4D97-AF65-F5344CB8AC3E}">
        <p14:creationId xmlns:p14="http://schemas.microsoft.com/office/powerpoint/2010/main" val="153006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6D93-BBDB-E5CE-B555-D53FF03D2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>
            <a:extLst>
              <a:ext uri="{FF2B5EF4-FFF2-40B4-BE49-F238E27FC236}">
                <a16:creationId xmlns:a16="http://schemas.microsoft.com/office/drawing/2014/main" id="{4065B7E0-4ABC-00BB-7C75-240692423ACA}"/>
              </a:ext>
            </a:extLst>
          </p:cNvPr>
          <p:cNvSpPr/>
          <p:nvPr/>
        </p:nvSpPr>
        <p:spPr>
          <a:xfrm flipV="1">
            <a:off x="685800" y="727789"/>
            <a:ext cx="10105697" cy="9382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3A256C8-E957-C4CD-6C13-616CDF480198}"/>
              </a:ext>
            </a:extLst>
          </p:cNvPr>
          <p:cNvSpPr txBox="1"/>
          <p:nvPr/>
        </p:nvSpPr>
        <p:spPr>
          <a:xfrm>
            <a:off x="781401" y="1129141"/>
            <a:ext cx="10902599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IN" sz="4800" dirty="0"/>
              <a:t>System Architecture</a:t>
            </a:r>
            <a:endParaRPr lang="en-US" sz="4667" b="1" dirty="0">
              <a:solidFill>
                <a:schemeClr val="accent2">
                  <a:lumMod val="75000"/>
                </a:schemeClr>
              </a:solidFill>
              <a:latin typeface="Radley" panose="020B0604020202020204" charset="0"/>
              <a:ea typeface="Radley"/>
              <a:cs typeface="Radley"/>
              <a:sym typeface="Radle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71E50A-C1A4-6184-2F61-DFFB49F1B21C}"/>
              </a:ext>
            </a:extLst>
          </p:cNvPr>
          <p:cNvSpPr txBox="1"/>
          <p:nvPr/>
        </p:nvSpPr>
        <p:spPr>
          <a:xfrm>
            <a:off x="339900" y="2187960"/>
            <a:ext cx="11785600" cy="3518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User Interface (</a:t>
            </a:r>
            <a:r>
              <a:rPr lang="en-IN" sz="2800" dirty="0" err="1"/>
              <a:t>Streamlit</a:t>
            </a:r>
            <a:r>
              <a:rPr lang="en-IN" sz="2800" dirty="0"/>
              <a:t>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Synthetic Data Generator (NumPy + Pandas)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ML Model (Logistic Regression)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RL Engine (Q-Learning)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Doctor Chatbot (Rule-based)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PDF Reports (</a:t>
            </a:r>
            <a:r>
              <a:rPr lang="en-IN" sz="2800" dirty="0" err="1"/>
              <a:t>ReportLab</a:t>
            </a:r>
            <a:r>
              <a:rPr lang="en-IN" sz="2800" dirty="0"/>
              <a:t>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Authentication Layer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667" dirty="0"/>
          </a:p>
        </p:txBody>
      </p:sp>
    </p:spTree>
    <p:extLst>
      <p:ext uri="{BB962C8B-B14F-4D97-AF65-F5344CB8AC3E}">
        <p14:creationId xmlns:p14="http://schemas.microsoft.com/office/powerpoint/2010/main" val="61221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48641-5ED4-C7BE-E93A-3A388058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>
            <a:extLst>
              <a:ext uri="{FF2B5EF4-FFF2-40B4-BE49-F238E27FC236}">
                <a16:creationId xmlns:a16="http://schemas.microsoft.com/office/drawing/2014/main" id="{09863C2F-A991-80D9-F410-5BA387B2A47D}"/>
              </a:ext>
            </a:extLst>
          </p:cNvPr>
          <p:cNvSpPr/>
          <p:nvPr/>
        </p:nvSpPr>
        <p:spPr>
          <a:xfrm flipV="1">
            <a:off x="685800" y="727789"/>
            <a:ext cx="10105697" cy="9382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E397578-8D9B-DC07-9815-C568F9C2FB96}"/>
              </a:ext>
            </a:extLst>
          </p:cNvPr>
          <p:cNvSpPr txBox="1"/>
          <p:nvPr/>
        </p:nvSpPr>
        <p:spPr>
          <a:xfrm>
            <a:off x="781401" y="1129141"/>
            <a:ext cx="10902599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IN" sz="4800" dirty="0"/>
              <a:t>Dataset </a:t>
            </a:r>
            <a:endParaRPr lang="en-US" sz="4667" b="1" dirty="0">
              <a:solidFill>
                <a:schemeClr val="accent2">
                  <a:lumMod val="75000"/>
                </a:schemeClr>
              </a:solidFill>
              <a:latin typeface="Radley" panose="020B0604020202020204" charset="0"/>
              <a:ea typeface="Radley"/>
              <a:cs typeface="Radley"/>
              <a:sym typeface="Radle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EAA689-2647-0F32-386F-D10D32AA6C50}"/>
              </a:ext>
            </a:extLst>
          </p:cNvPr>
          <p:cNvSpPr txBox="1"/>
          <p:nvPr/>
        </p:nvSpPr>
        <p:spPr>
          <a:xfrm>
            <a:off x="406400" y="1795990"/>
            <a:ext cx="11785600" cy="6104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Dataset Name:</a:t>
            </a:r>
            <a:r>
              <a:rPr lang="en-IN" sz="2800" dirty="0"/>
              <a:t> MIMIC-III (Medical Information Mart for Intensive Care)</a:t>
            </a:r>
            <a:br>
              <a:rPr lang="en-IN" sz="2800" dirty="0"/>
            </a:br>
            <a:r>
              <a:rPr lang="en-IN" sz="2800" b="1" dirty="0"/>
              <a:t>Source:</a:t>
            </a:r>
            <a:r>
              <a:rPr lang="en-IN" sz="2800" dirty="0"/>
              <a:t> </a:t>
            </a:r>
            <a:r>
              <a:rPr lang="en-IN" sz="2800" dirty="0">
                <a:hlinkClick r:id="rId2"/>
              </a:rPr>
              <a:t>https://physionet.org/content/mimiciii/1.4/</a:t>
            </a: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r>
              <a:rPr lang="en-IN" sz="2800" dirty="0"/>
              <a:t>Each row represents a patient’s </a:t>
            </a:r>
            <a:r>
              <a:rPr lang="en-IN" sz="2800" b="1" dirty="0"/>
              <a:t>state and action at one time step</a:t>
            </a:r>
            <a:r>
              <a:rPr lang="en-IN" sz="2800" dirty="0"/>
              <a:t> with a corresponding </a:t>
            </a:r>
            <a:r>
              <a:rPr lang="en-IN" sz="2800" b="1" dirty="0"/>
              <a:t>reward</a:t>
            </a:r>
            <a:r>
              <a:rPr lang="en-IN" sz="2800" dirty="0"/>
              <a:t>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667" dirty="0"/>
          </a:p>
        </p:txBody>
      </p:sp>
      <p:pic>
        <p:nvPicPr>
          <p:cNvPr id="3" name="Picture 2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DCAB6567-771E-FF7E-CC65-A6F9A4A33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060" y="2774951"/>
            <a:ext cx="6939740" cy="255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34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0C053-95E9-C8FE-91AF-AE834E69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>
            <a:extLst>
              <a:ext uri="{FF2B5EF4-FFF2-40B4-BE49-F238E27FC236}">
                <a16:creationId xmlns:a16="http://schemas.microsoft.com/office/drawing/2014/main" id="{098CD227-4B7A-A368-7ACD-4B89B5AD4B3A}"/>
              </a:ext>
            </a:extLst>
          </p:cNvPr>
          <p:cNvSpPr/>
          <p:nvPr/>
        </p:nvSpPr>
        <p:spPr>
          <a:xfrm flipV="1">
            <a:off x="685800" y="727789"/>
            <a:ext cx="10105697" cy="9382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A7F644B-8EF6-3C0D-7BF6-0C05FD37904B}"/>
              </a:ext>
            </a:extLst>
          </p:cNvPr>
          <p:cNvSpPr txBox="1"/>
          <p:nvPr/>
        </p:nvSpPr>
        <p:spPr>
          <a:xfrm>
            <a:off x="781401" y="1129141"/>
            <a:ext cx="10902599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IN" sz="4800" dirty="0"/>
              <a:t>Final Output </a:t>
            </a:r>
            <a:endParaRPr lang="en-US" sz="4667" b="1" dirty="0">
              <a:solidFill>
                <a:schemeClr val="accent2">
                  <a:lumMod val="75000"/>
                </a:schemeClr>
              </a:solidFill>
              <a:latin typeface="Radley" panose="020B0604020202020204" charset="0"/>
              <a:ea typeface="Radley"/>
              <a:cs typeface="Radley"/>
              <a:sym typeface="Radle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8B3975-1D4C-B61A-7C2B-4F8DBFD83FAD}"/>
              </a:ext>
            </a:extLst>
          </p:cNvPr>
          <p:cNvSpPr txBox="1"/>
          <p:nvPr/>
        </p:nvSpPr>
        <p:spPr>
          <a:xfrm>
            <a:off x="406400" y="1795990"/>
            <a:ext cx="11785600" cy="6104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The trained RL model outputs an </a:t>
            </a:r>
            <a:r>
              <a:rPr lang="en-IN" sz="2800" b="1" dirty="0"/>
              <a:t>optimized treatment policy</a:t>
            </a:r>
            <a:r>
              <a:rPr lang="en-IN" sz="2800" dirty="0"/>
              <a:t> that: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Suggests personalized actions (e.g., “increase vasopressor by 5%” or “reduce insulin dose”)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Predicts expected long-term reward (patient recovery probability)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Can visualize treatment trajectories using policy heatmaps or patient improvement graphs</a:t>
            </a:r>
          </a:p>
          <a:p>
            <a:r>
              <a:rPr lang="en-IN" sz="2800" dirty="0"/>
              <a:t>Expected outcome: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Reduced mortality rate (compared to standard treatment)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Shorter ICU stays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Safer drug dosage strategies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667" dirty="0"/>
          </a:p>
        </p:txBody>
      </p:sp>
    </p:spTree>
    <p:extLst>
      <p:ext uri="{BB962C8B-B14F-4D97-AF65-F5344CB8AC3E}">
        <p14:creationId xmlns:p14="http://schemas.microsoft.com/office/powerpoint/2010/main" val="4014390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9A182-802E-537B-2DF2-0CF83FE8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>
            <a:extLst>
              <a:ext uri="{FF2B5EF4-FFF2-40B4-BE49-F238E27FC236}">
                <a16:creationId xmlns:a16="http://schemas.microsoft.com/office/drawing/2014/main" id="{39E2CF60-F697-C4BE-9170-30A79BEA77B9}"/>
              </a:ext>
            </a:extLst>
          </p:cNvPr>
          <p:cNvSpPr/>
          <p:nvPr/>
        </p:nvSpPr>
        <p:spPr>
          <a:xfrm flipV="1">
            <a:off x="685800" y="727789"/>
            <a:ext cx="10105697" cy="9382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15CA294-17F9-6656-6F1A-6ED7E3B0165E}"/>
              </a:ext>
            </a:extLst>
          </p:cNvPr>
          <p:cNvSpPr txBox="1"/>
          <p:nvPr/>
        </p:nvSpPr>
        <p:spPr>
          <a:xfrm>
            <a:off x="781401" y="1129141"/>
            <a:ext cx="10902599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IN" sz="4800" dirty="0"/>
              <a:t>Machine Learning Model</a:t>
            </a:r>
            <a:endParaRPr lang="en-US" sz="4667" b="1" dirty="0">
              <a:solidFill>
                <a:schemeClr val="accent2">
                  <a:lumMod val="75000"/>
                </a:schemeClr>
              </a:solidFill>
              <a:latin typeface="Radley" panose="020B0604020202020204" charset="0"/>
              <a:ea typeface="Radley"/>
              <a:cs typeface="Radley"/>
              <a:sym typeface="Radle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8D8E10-5E6B-BF17-CD24-8634FA7CBB41}"/>
              </a:ext>
            </a:extLst>
          </p:cNvPr>
          <p:cNvSpPr txBox="1"/>
          <p:nvPr/>
        </p:nvSpPr>
        <p:spPr>
          <a:xfrm>
            <a:off x="339900" y="2187960"/>
            <a:ext cx="11785600" cy="4380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Logistic Regression for Risk Prediction</a:t>
            </a:r>
            <a:endParaRPr lang="en-IN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Inputs: HR, SBP, Temp, RR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Output: High-risk (1) / Low-risk (0)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Provides probability score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Excellent for simple, interpretable decisions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Fast prediction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High interpretability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Useful for threshold-based risk assessment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Complements RL treatment engine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667" dirty="0"/>
          </a:p>
        </p:txBody>
      </p:sp>
    </p:spTree>
    <p:extLst>
      <p:ext uri="{BB962C8B-B14F-4D97-AF65-F5344CB8AC3E}">
        <p14:creationId xmlns:p14="http://schemas.microsoft.com/office/powerpoint/2010/main" val="2262740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0E697-3D4E-ECEB-4A28-410A686B7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>
            <a:extLst>
              <a:ext uri="{FF2B5EF4-FFF2-40B4-BE49-F238E27FC236}">
                <a16:creationId xmlns:a16="http://schemas.microsoft.com/office/drawing/2014/main" id="{BEDF7AF8-90C7-3496-6450-F5AC7C55A784}"/>
              </a:ext>
            </a:extLst>
          </p:cNvPr>
          <p:cNvSpPr/>
          <p:nvPr/>
        </p:nvSpPr>
        <p:spPr>
          <a:xfrm flipV="1">
            <a:off x="685800" y="727789"/>
            <a:ext cx="10105697" cy="9382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DA1E94A-E7F4-93CB-5393-6BA74BCBF50B}"/>
              </a:ext>
            </a:extLst>
          </p:cNvPr>
          <p:cNvSpPr txBox="1"/>
          <p:nvPr/>
        </p:nvSpPr>
        <p:spPr>
          <a:xfrm>
            <a:off x="644700" y="812710"/>
            <a:ext cx="10902599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IN" sz="4800" dirty="0"/>
              <a:t>Reinforcement Learning Model</a:t>
            </a:r>
            <a:endParaRPr lang="en-US" sz="4667" b="1" dirty="0">
              <a:solidFill>
                <a:schemeClr val="accent2">
                  <a:lumMod val="75000"/>
                </a:schemeClr>
              </a:solidFill>
              <a:latin typeface="Radley" panose="020B0604020202020204" charset="0"/>
              <a:ea typeface="Radley"/>
              <a:cs typeface="Radley"/>
              <a:sym typeface="Radle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F0330C-49D4-7E84-8881-20A6A613855D}"/>
              </a:ext>
            </a:extLst>
          </p:cNvPr>
          <p:cNvSpPr txBox="1"/>
          <p:nvPr/>
        </p:nvSpPr>
        <p:spPr>
          <a:xfrm>
            <a:off x="1175657" y="1795990"/>
            <a:ext cx="2928257" cy="410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Q-Learning Treatment Engine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States: Low, Medium, High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No 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IV Fluids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Vasopressor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Call Doctor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Reward-driven clinical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Learns best action for each risk level</a:t>
            </a:r>
          </a:p>
          <a:p>
            <a:endParaRPr lang="en-IN" dirty="0"/>
          </a:p>
          <a:p>
            <a:endParaRPr lang="en-IN" sz="2667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A003B2-267D-548C-B3B3-5E860E71C92C}"/>
              </a:ext>
            </a:extLst>
          </p:cNvPr>
          <p:cNvSpPr txBox="1"/>
          <p:nvPr/>
        </p:nvSpPr>
        <p:spPr>
          <a:xfrm>
            <a:off x="8088086" y="1795990"/>
            <a:ext cx="24891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Q-Table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Heatmap of Q-values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Best action per risk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Evidence of policy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Treatment pattern emerges clearly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B32EBC-6696-9347-9290-A173271ED42E}"/>
              </a:ext>
            </a:extLst>
          </p:cNvPr>
          <p:cNvSpPr txBox="1"/>
          <p:nvPr/>
        </p:nvSpPr>
        <p:spPr>
          <a:xfrm>
            <a:off x="4103914" y="3907849"/>
            <a:ext cx="39841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Q-Learning: Reward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High-risk → Vasopressor / Call Doctor (reward +12)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Medium-risk → IV Fluids (reward +8)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Low-risk → No Action (reward +5)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Penalties for harmful or unnecessary 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813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7C8A9-76E6-A2AB-CABA-AC86199C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>
            <a:extLst>
              <a:ext uri="{FF2B5EF4-FFF2-40B4-BE49-F238E27FC236}">
                <a16:creationId xmlns:a16="http://schemas.microsoft.com/office/drawing/2014/main" id="{04C19D0D-F03F-85B4-3181-D2E168E175B0}"/>
              </a:ext>
            </a:extLst>
          </p:cNvPr>
          <p:cNvSpPr/>
          <p:nvPr/>
        </p:nvSpPr>
        <p:spPr>
          <a:xfrm flipV="1">
            <a:off x="685800" y="727789"/>
            <a:ext cx="10105697" cy="9382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437F07F-55B1-2F5D-36D2-EC03CC327E6E}"/>
              </a:ext>
            </a:extLst>
          </p:cNvPr>
          <p:cNvSpPr txBox="1"/>
          <p:nvPr/>
        </p:nvSpPr>
        <p:spPr>
          <a:xfrm>
            <a:off x="-2412025" y="933156"/>
            <a:ext cx="10902599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IN" sz="4800" dirty="0"/>
              <a:t>Doctor Chatbot</a:t>
            </a:r>
            <a:endParaRPr lang="en-US" sz="4667" b="1" dirty="0">
              <a:solidFill>
                <a:schemeClr val="accent2">
                  <a:lumMod val="75000"/>
                </a:schemeClr>
              </a:solidFill>
              <a:latin typeface="Radley" panose="020B0604020202020204" charset="0"/>
              <a:ea typeface="Radley"/>
              <a:cs typeface="Radley"/>
              <a:sym typeface="Radle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B2F7C3-322C-6147-D350-50FF4324C77B}"/>
              </a:ext>
            </a:extLst>
          </p:cNvPr>
          <p:cNvSpPr txBox="1"/>
          <p:nvPr/>
        </p:nvSpPr>
        <p:spPr>
          <a:xfrm>
            <a:off x="685800" y="1795990"/>
            <a:ext cx="11785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Rule-based clinical assistant</a:t>
            </a:r>
          </a:p>
          <a:p>
            <a:r>
              <a:rPr lang="en-IN" sz="2800" b="1" dirty="0"/>
              <a:t>Answers: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Fever symptoms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BP-related questions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Heart rate issues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Basic treatment advice</a:t>
            </a:r>
          </a:p>
          <a:p>
            <a:r>
              <a:rPr lang="en-IN" sz="2800" b="1" dirty="0"/>
              <a:t>Enhances user interaction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49A76B-B97C-002E-DFDE-09E96E1239A6}"/>
              </a:ext>
            </a:extLst>
          </p:cNvPr>
          <p:cNvSpPr txBox="1"/>
          <p:nvPr/>
        </p:nvSpPr>
        <p:spPr>
          <a:xfrm>
            <a:off x="6096000" y="737171"/>
            <a:ext cx="5301343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4800" dirty="0"/>
              <a:t>Alert &amp; Warning System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800" dirty="0"/>
              <a:t>HR &gt; 120 → High HR warning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800" dirty="0"/>
              <a:t>SBP &gt; 160 → Hypertension alert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800" dirty="0"/>
              <a:t>Temp &gt; 38.5°C → Fever alert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800" dirty="0"/>
              <a:t>RR &gt; 24 → High respiration alert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800" dirty="0"/>
              <a:t>Real-time alerts during Live Simulation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728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0148-E433-26CE-9928-DB95EBD3B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>
            <a:extLst>
              <a:ext uri="{FF2B5EF4-FFF2-40B4-BE49-F238E27FC236}">
                <a16:creationId xmlns:a16="http://schemas.microsoft.com/office/drawing/2014/main" id="{6AF586C6-2D24-6E78-C9C8-39C5CAEDF3F2}"/>
              </a:ext>
            </a:extLst>
          </p:cNvPr>
          <p:cNvSpPr/>
          <p:nvPr/>
        </p:nvSpPr>
        <p:spPr>
          <a:xfrm flipV="1">
            <a:off x="685800" y="727789"/>
            <a:ext cx="10105697" cy="9382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575745E-4F77-1CF9-48FC-F598EC4EAAE8}"/>
              </a:ext>
            </a:extLst>
          </p:cNvPr>
          <p:cNvSpPr txBox="1"/>
          <p:nvPr/>
        </p:nvSpPr>
        <p:spPr>
          <a:xfrm>
            <a:off x="781401" y="1129141"/>
            <a:ext cx="10902599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IN" sz="4800" dirty="0"/>
              <a:t>Conclusion</a:t>
            </a:r>
            <a:endParaRPr lang="en-US" sz="4667" b="1" dirty="0">
              <a:solidFill>
                <a:schemeClr val="accent2">
                  <a:lumMod val="75000"/>
                </a:schemeClr>
              </a:solidFill>
              <a:latin typeface="Radley" panose="020B0604020202020204" charset="0"/>
              <a:ea typeface="Radley"/>
              <a:cs typeface="Radley"/>
              <a:sym typeface="Radle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BF71A5-9085-7C7F-6BD8-243EDEA9B68A}"/>
              </a:ext>
            </a:extLst>
          </p:cNvPr>
          <p:cNvSpPr txBox="1"/>
          <p:nvPr/>
        </p:nvSpPr>
        <p:spPr>
          <a:xfrm>
            <a:off x="339900" y="2187960"/>
            <a:ext cx="11785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Successfully integrated ML, RL, chatbot &amp; analytics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Built an end-to-end clinical decision-support simulation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User-friendly interface for students &amp; medical learners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Ready for future expansion: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Deep RL (DDPG / BCQ)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Real medical datasets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Advanced chatbot (LLM)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Cloud deployment</a:t>
            </a:r>
          </a:p>
        </p:txBody>
      </p:sp>
    </p:spTree>
    <p:extLst>
      <p:ext uri="{BB962C8B-B14F-4D97-AF65-F5344CB8AC3E}">
        <p14:creationId xmlns:p14="http://schemas.microsoft.com/office/powerpoint/2010/main" val="2442905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A454A-E828-2959-3C5E-66101A7A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>
            <a:extLst>
              <a:ext uri="{FF2B5EF4-FFF2-40B4-BE49-F238E27FC236}">
                <a16:creationId xmlns:a16="http://schemas.microsoft.com/office/drawing/2014/main" id="{40BC94AA-3ABF-1832-B69D-FE1D39D904F5}"/>
              </a:ext>
            </a:extLst>
          </p:cNvPr>
          <p:cNvSpPr/>
          <p:nvPr/>
        </p:nvSpPr>
        <p:spPr>
          <a:xfrm flipV="1">
            <a:off x="685800" y="727789"/>
            <a:ext cx="10105697" cy="9382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6C5F246-0F45-EB54-4E73-6AC66BCF426A}"/>
              </a:ext>
            </a:extLst>
          </p:cNvPr>
          <p:cNvSpPr txBox="1"/>
          <p:nvPr/>
        </p:nvSpPr>
        <p:spPr>
          <a:xfrm>
            <a:off x="781401" y="1129141"/>
            <a:ext cx="10902599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IN" sz="4800" dirty="0"/>
              <a:t>Reference</a:t>
            </a:r>
            <a:endParaRPr lang="en-US" sz="4667" b="1" dirty="0">
              <a:solidFill>
                <a:schemeClr val="accent2">
                  <a:lumMod val="75000"/>
                </a:schemeClr>
              </a:solidFill>
              <a:latin typeface="Radley" panose="020B0604020202020204" charset="0"/>
              <a:ea typeface="Radley"/>
              <a:cs typeface="Radley"/>
              <a:sym typeface="Radle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63523-91B0-A110-03F7-6986EDB3E947}"/>
              </a:ext>
            </a:extLst>
          </p:cNvPr>
          <p:cNvSpPr txBox="1"/>
          <p:nvPr/>
        </p:nvSpPr>
        <p:spPr>
          <a:xfrm>
            <a:off x="406400" y="1795990"/>
            <a:ext cx="11785600" cy="4196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67" dirty="0"/>
              <a:t>Komorowski, M., et al. “Artificial Intelligence for Treatment of Sepsis in Intensive Care: Reinforcement Learning Framework.” Nature Medicine, 2022.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67" dirty="0"/>
              <a:t>Killian, J. A., et al. “Offline Reinforcement Learning for Personalized Treatment Strategies.” </a:t>
            </a:r>
            <a:r>
              <a:rPr lang="en-IN" sz="2667" dirty="0" err="1"/>
              <a:t>NeurIPS</a:t>
            </a:r>
            <a:r>
              <a:rPr lang="en-IN" sz="2667" dirty="0"/>
              <a:t> 2023.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67" dirty="0"/>
              <a:t>Tang, X. et al. “Safe Reinforcement Learning in Healthcare: A Survey.” ACM Computing Surveys, 2021.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67" dirty="0"/>
              <a:t>Gottesman, O., et al. “Evaluating Reinforcement Learning Algorithms in Healthcare.” Nature Machine Intelligence, 2020.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67" dirty="0"/>
              <a:t>Fatemi, M. et al. “Deep Reinforcement Learning for Personalized Medicine.” IEEE Transactions on Neural Networks and Learning Systems, 2021.</a:t>
            </a:r>
          </a:p>
        </p:txBody>
      </p:sp>
    </p:spTree>
    <p:extLst>
      <p:ext uri="{BB962C8B-B14F-4D97-AF65-F5344CB8AC3E}">
        <p14:creationId xmlns:p14="http://schemas.microsoft.com/office/powerpoint/2010/main" val="1561642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FCCA1E-D46A-B560-9423-94A6E8B94A97}"/>
              </a:ext>
            </a:extLst>
          </p:cNvPr>
          <p:cNvSpPr txBox="1"/>
          <p:nvPr/>
        </p:nvSpPr>
        <p:spPr>
          <a:xfrm>
            <a:off x="2336204" y="2767280"/>
            <a:ext cx="1600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HARSHIT   </a:t>
            </a:r>
            <a:r>
              <a:rPr lang="en-US" sz="2000" dirty="0">
                <a:solidFill>
                  <a:srgbClr val="E8E8E8"/>
                </a:solidFill>
                <a:latin typeface="Aptos" panose="02110004020202020204"/>
              </a:rPr>
              <a:t>HARSH</a:t>
            </a:r>
            <a:br>
              <a:rPr lang="en-US" sz="2000" dirty="0">
                <a:solidFill>
                  <a:srgbClr val="E8E8E8"/>
                </a:solidFill>
                <a:latin typeface="Aptos" panose="02110004020202020204"/>
              </a:rPr>
            </a:br>
            <a:r>
              <a:rPr lang="en-US" sz="2000" dirty="0">
                <a:solidFill>
                  <a:srgbClr val="E8E8E8"/>
                </a:solidFill>
                <a:latin typeface="Aptos" panose="02110004020202020204"/>
              </a:rPr>
              <a:t>HIMANSHU</a:t>
            </a:r>
            <a:br>
              <a:rPr lang="en-US" sz="2000" dirty="0">
                <a:solidFill>
                  <a:srgbClr val="E8E8E8"/>
                </a:solidFill>
                <a:latin typeface="Aptos" panose="02110004020202020204"/>
              </a:rPr>
            </a:br>
            <a:r>
              <a:rPr lang="en-US" sz="2000" dirty="0">
                <a:solidFill>
                  <a:srgbClr val="E8E8E8"/>
                </a:solidFill>
                <a:latin typeface="Aptos" panose="02110004020202020204"/>
              </a:rPr>
              <a:t>JATIN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745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3789</TotalTime>
  <Words>992</Words>
  <Application>Microsoft Macintosh PowerPoint</Application>
  <PresentationFormat>Widescreen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Courier New</vt:lpstr>
      <vt:lpstr>Gill Sans MT</vt:lpstr>
      <vt:lpstr>Radley</vt:lpstr>
      <vt:lpstr>Gallery</vt:lpstr>
      <vt:lpstr>Office Theme</vt:lpstr>
      <vt:lpstr>Healthcare Treatment Policy Learning Using Reinforcement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harshit23csu118</dc:creator>
  <cp:lastModifiedBy>harshit23csu118</cp:lastModifiedBy>
  <cp:revision>4</cp:revision>
  <dcterms:created xsi:type="dcterms:W3CDTF">2025-10-14T08:24:33Z</dcterms:created>
  <dcterms:modified xsi:type="dcterms:W3CDTF">2025-11-18T08:22:00Z</dcterms:modified>
</cp:coreProperties>
</file>